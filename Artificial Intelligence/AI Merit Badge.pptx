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203CB-C0B1-715B-2E89-F4381B70BB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8340F9-341B-878C-A556-B1C4DA6113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E6DFE2-2A2A-77D1-4652-0EDCA9354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4FD6-2D14-4649-A14C-DF3FC0678B4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E21D0-E675-C9AD-D9C8-F9E40BEE9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8726C2-9FE2-B3A8-4BFC-064805800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4AE3-2461-41B2-B882-6BB3A5BB1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870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9926F-0B14-93C4-CB85-577564FC5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6318B1-9848-21EB-1D48-25C20A73A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CEB355-2318-B361-E6A0-1E19D5CBF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4FD6-2D14-4649-A14C-DF3FC0678B4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71A82-044B-231F-3416-B82E06BFB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9E37A5-C135-53C7-7A4F-E11D6CB8D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4AE3-2461-41B2-B882-6BB3A5BB1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277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9B6E7-F724-BC00-B21B-37CC7C48D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38B631-3FFC-5742-69E5-93DD84E56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554393-3E5A-A641-31AF-5D0D6D10EC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4FD6-2D14-4649-A14C-DF3FC0678B4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452E0-1E29-48E9-C999-1664545EE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BB7D5-7A8B-F353-5DDB-1DEBED03C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4AE3-2461-41B2-B882-6BB3A5BB1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1092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F7725-30EF-EA6A-FFFE-568F502AB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41F873-21F4-5E75-1581-917C2AD738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7046DE-D062-3B3F-A514-62A4A3C8AD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51A6E8-9676-EFE2-DB0F-6D9BE7EBB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4FD6-2D14-4649-A14C-DF3FC0678B4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EB2F7D-C35C-35D2-7E3C-4453E4201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FD672-F84B-80EF-6631-D1F763FBE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4AE3-2461-41B2-B882-6BB3A5BB1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513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74BB3-3F59-F211-9394-58C061706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E15DB7-E22E-7698-C233-8B1429BBD0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ECFC47-A56D-FEC5-DD99-FF2711DA0C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5D6C1F-DCDA-8227-C0CD-0936FC380D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30BBBB-265C-0C58-174D-D0C928B36B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1F258A-0A38-FA53-B1E9-BF38345C4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4FD6-2D14-4649-A14C-DF3FC0678B4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A9FA5A-1CEF-C176-89FF-37E1B6BE4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F72232-D6B9-882D-18AB-6D912B94A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4AE3-2461-41B2-B882-6BB3A5BB1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195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79DD64-AA71-B049-952A-2C8032FF2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200F3A-7B0C-6F07-B577-7A3A2D030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4FD6-2D14-4649-A14C-DF3FC0678B4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6882F1-6EDE-95D4-A69B-7AE5E0C8C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9F98F0-DA94-BC11-56BF-3163B9D43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4AE3-2461-41B2-B882-6BB3A5BB1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09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EE8BFE-C752-5685-A5BA-444EFB0B7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4FD6-2D14-4649-A14C-DF3FC0678B4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49ED3-08EA-EC5D-D58F-FD5118A33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4AA1F-A825-37C1-D230-827A72815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4AE3-2461-41B2-B882-6BB3A5BB1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08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1C09A-8707-7CD2-3498-5F0251AC2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ECC3-0CE4-0929-2DCF-51FA71FAD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574BD5-359B-DDB3-46D2-DCDD8C191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8B44E9-1254-5BD3-9E72-97B438423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4FD6-2D14-4649-A14C-DF3FC0678B4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96F68-967C-2D4B-7D29-6A14060D1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AAC3E-B27C-3EE3-396E-F6007B31C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4AE3-2461-41B2-B882-6BB3A5BB1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9ACE3-6A1A-D999-5411-332014576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8F3365-119A-1B13-941E-3182E7D224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2BC13-6C3C-1C13-5B75-898A162C0F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698210-71EF-348F-84B1-D86E93B3F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4FD6-2D14-4649-A14C-DF3FC0678B4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C9C65-26B1-D147-D1A7-1027985BA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23E33D-129E-A0C8-BD04-5B43A3A14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4AE3-2461-41B2-B882-6BB3A5BB1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901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E7CBA-411D-4B32-F37A-8B892F6BB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183960-F4F7-DAE6-D04B-602CFEDD1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C601D-247A-7C0C-7D1D-EFAAE5B7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4FD6-2D14-4649-A14C-DF3FC0678B4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C23F2-8296-EE46-9BCF-AAE162DFB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3827B-F40C-A4C8-D9A4-37DDD1B63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4AE3-2461-41B2-B882-6BB3A5BB1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931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8C4245-1E47-7BA0-78FF-F4506C647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C321D9-6D4D-EE69-ADF2-39707D1E5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C9962-E1AF-BA2A-EF99-96A7D247F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4FD6-2D14-4649-A14C-DF3FC0678B4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BBAFEF-3AAD-C2FE-B096-F6B9F7FE3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3D9193-9FEE-9BAE-426D-7DADAF2CE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E4AE3-2461-41B2-B882-6BB3A5BB1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58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A9D456-CD31-BBC8-508B-CFEE900FE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F50AC-7BBF-9A2D-30BE-F8231D5DB4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72D22-AD65-878D-0AA9-4D2C5069CF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CD4FD6-2D14-4649-A14C-DF3FC0678B47}" type="datetimeFigureOut">
              <a:rPr lang="en-US" smtClean="0"/>
              <a:t>7/30/2026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95D0A-5010-FF2B-2BFD-0F5AD3A18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D0EED-1714-DD33-594D-965D858117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E4AE3-2461-41B2-B882-6BB3A5BB15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8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6B2449-FF07-47FC-AA19-DB68D98F3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94261F-1ED3-4E90-88E6-1347914400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716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975A70-1BC9-44A9-9CA7-8CA7941281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78043" y="590062"/>
            <a:ext cx="5347266" cy="2838938"/>
          </a:xfrm>
        </p:spPr>
        <p:txBody>
          <a:bodyPr>
            <a:normAutofit/>
          </a:bodyPr>
          <a:lstStyle/>
          <a:p>
            <a:pPr algn="l"/>
            <a:r>
              <a:rPr lang="en-US" sz="5600">
                <a:solidFill>
                  <a:srgbClr val="FFFFFF"/>
                </a:solidFill>
              </a:rPr>
              <a:t>AI Merit Badge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42E92-10FE-1717-5FCC-F059ECCCE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8043" y="3739764"/>
            <a:ext cx="5324405" cy="1198120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Milestones of AI and Automation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6052961-5ADC-4465-9B95-E6D4A490D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3696" y="1606411"/>
            <a:ext cx="465456" cy="581432"/>
            <a:chOff x="653696" y="1606411"/>
            <a:chExt cx="465456" cy="581432"/>
          </a:xfrm>
          <a:solidFill>
            <a:srgbClr val="FFFFFF"/>
          </a:solidFill>
        </p:grpSpPr>
        <p:sp>
          <p:nvSpPr>
            <p:cNvPr id="15" name="Graphic 13">
              <a:extLst>
                <a:ext uri="{FF2B5EF4-FFF2-40B4-BE49-F238E27FC236}">
                  <a16:creationId xmlns:a16="http://schemas.microsoft.com/office/drawing/2014/main" id="{C5CB530E-515E-412C-9DF1-5F8FFBD6F3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69236" y="1606411"/>
              <a:ext cx="139038" cy="139038"/>
            </a:xfrm>
            <a:custGeom>
              <a:avLst/>
              <a:gdLst>
                <a:gd name="connsiteX0" fmla="*/ 129601 w 139038"/>
                <a:gd name="connsiteY0" fmla="*/ 60082 h 139038"/>
                <a:gd name="connsiteX1" fmla="*/ 78956 w 139038"/>
                <a:gd name="connsiteY1" fmla="*/ 60082 h 139038"/>
                <a:gd name="connsiteX2" fmla="*/ 78956 w 139038"/>
                <a:gd name="connsiteY2" fmla="*/ 9437 h 139038"/>
                <a:gd name="connsiteX3" fmla="*/ 69519 w 139038"/>
                <a:gd name="connsiteY3" fmla="*/ 0 h 139038"/>
                <a:gd name="connsiteX4" fmla="*/ 60082 w 139038"/>
                <a:gd name="connsiteY4" fmla="*/ 9437 h 139038"/>
                <a:gd name="connsiteX5" fmla="*/ 60082 w 139038"/>
                <a:gd name="connsiteY5" fmla="*/ 60082 h 139038"/>
                <a:gd name="connsiteX6" fmla="*/ 9437 w 139038"/>
                <a:gd name="connsiteY6" fmla="*/ 60082 h 139038"/>
                <a:gd name="connsiteX7" fmla="*/ 0 w 139038"/>
                <a:gd name="connsiteY7" fmla="*/ 69519 h 139038"/>
                <a:gd name="connsiteX8" fmla="*/ 9437 w 139038"/>
                <a:gd name="connsiteY8" fmla="*/ 78956 h 139038"/>
                <a:gd name="connsiteX9" fmla="*/ 60082 w 139038"/>
                <a:gd name="connsiteY9" fmla="*/ 78956 h 139038"/>
                <a:gd name="connsiteX10" fmla="*/ 60082 w 139038"/>
                <a:gd name="connsiteY10" fmla="*/ 129601 h 139038"/>
                <a:gd name="connsiteX11" fmla="*/ 69519 w 139038"/>
                <a:gd name="connsiteY11" fmla="*/ 139038 h 139038"/>
                <a:gd name="connsiteX12" fmla="*/ 78956 w 139038"/>
                <a:gd name="connsiteY12" fmla="*/ 129601 h 139038"/>
                <a:gd name="connsiteX13" fmla="*/ 78956 w 139038"/>
                <a:gd name="connsiteY13" fmla="*/ 78956 h 139038"/>
                <a:gd name="connsiteX14" fmla="*/ 129601 w 139038"/>
                <a:gd name="connsiteY14" fmla="*/ 78956 h 139038"/>
                <a:gd name="connsiteX15" fmla="*/ 139038 w 139038"/>
                <a:gd name="connsiteY15" fmla="*/ 69519 h 139038"/>
                <a:gd name="connsiteX16" fmla="*/ 129601 w 139038"/>
                <a:gd name="connsiteY16" fmla="*/ 60082 h 13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8" h="139038">
                  <a:moveTo>
                    <a:pt x="129601" y="60082"/>
                  </a:moveTo>
                  <a:lnTo>
                    <a:pt x="78956" y="60082"/>
                  </a:lnTo>
                  <a:lnTo>
                    <a:pt x="78956" y="9437"/>
                  </a:lnTo>
                  <a:cubicBezTo>
                    <a:pt x="78956" y="4225"/>
                    <a:pt x="74731" y="0"/>
                    <a:pt x="69519" y="0"/>
                  </a:cubicBezTo>
                  <a:cubicBezTo>
                    <a:pt x="64307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7"/>
                    <a:pt x="0" y="69519"/>
                  </a:cubicBezTo>
                  <a:cubicBezTo>
                    <a:pt x="0" y="74731"/>
                    <a:pt x="4225" y="78956"/>
                    <a:pt x="9437" y="78956"/>
                  </a:cubicBezTo>
                  <a:lnTo>
                    <a:pt x="60082" y="78956"/>
                  </a:lnTo>
                  <a:lnTo>
                    <a:pt x="60082" y="129601"/>
                  </a:lnTo>
                  <a:cubicBezTo>
                    <a:pt x="60082" y="134813"/>
                    <a:pt x="64307" y="139038"/>
                    <a:pt x="69519" y="139038"/>
                  </a:cubicBezTo>
                  <a:cubicBezTo>
                    <a:pt x="74731" y="139038"/>
                    <a:pt x="78956" y="134813"/>
                    <a:pt x="78956" y="129601"/>
                  </a:cubicBezTo>
                  <a:lnTo>
                    <a:pt x="78956" y="78956"/>
                  </a:lnTo>
                  <a:lnTo>
                    <a:pt x="129601" y="78956"/>
                  </a:lnTo>
                  <a:cubicBezTo>
                    <a:pt x="134813" y="78956"/>
                    <a:pt x="139038" y="74731"/>
                    <a:pt x="139038" y="69519"/>
                  </a:cubicBezTo>
                  <a:cubicBezTo>
                    <a:pt x="139038" y="64307"/>
                    <a:pt x="134813" y="60082"/>
                    <a:pt x="129601" y="60082"/>
                  </a:cubicBezTo>
                  <a:close/>
                </a:path>
              </a:pathLst>
            </a:custGeom>
            <a:grpFill/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6" name="Graphic 12">
              <a:extLst>
                <a:ext uri="{FF2B5EF4-FFF2-40B4-BE49-F238E27FC236}">
                  <a16:creationId xmlns:a16="http://schemas.microsoft.com/office/drawing/2014/main" id="{712D4376-A578-4FF1-94FC-245E7A6A4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014" y="1835705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grpFill/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  <p:sp>
          <p:nvSpPr>
            <p:cNvPr id="17" name="Graphic 15">
              <a:extLst>
                <a:ext uri="{FF2B5EF4-FFF2-40B4-BE49-F238E27FC236}">
                  <a16:creationId xmlns:a16="http://schemas.microsoft.com/office/drawing/2014/main" id="{AEA7509D-F04F-40CB-A0B3-EEF16499CC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3696" y="2060130"/>
              <a:ext cx="127713" cy="127713"/>
            </a:xfrm>
            <a:custGeom>
              <a:avLst/>
              <a:gdLst>
                <a:gd name="connsiteX0" fmla="*/ 63857 w 127713"/>
                <a:gd name="connsiteY0" fmla="*/ 18874 h 127713"/>
                <a:gd name="connsiteX1" fmla="*/ 108839 w 127713"/>
                <a:gd name="connsiteY1" fmla="*/ 63857 h 127713"/>
                <a:gd name="connsiteX2" fmla="*/ 63857 w 127713"/>
                <a:gd name="connsiteY2" fmla="*/ 108839 h 127713"/>
                <a:gd name="connsiteX3" fmla="*/ 18874 w 127713"/>
                <a:gd name="connsiteY3" fmla="*/ 63857 h 127713"/>
                <a:gd name="connsiteX4" fmla="*/ 63857 w 127713"/>
                <a:gd name="connsiteY4" fmla="*/ 18874 h 127713"/>
                <a:gd name="connsiteX5" fmla="*/ 63857 w 127713"/>
                <a:gd name="connsiteY5" fmla="*/ 0 h 127713"/>
                <a:gd name="connsiteX6" fmla="*/ 0 w 127713"/>
                <a:gd name="connsiteY6" fmla="*/ 63857 h 127713"/>
                <a:gd name="connsiteX7" fmla="*/ 63857 w 127713"/>
                <a:gd name="connsiteY7" fmla="*/ 127713 h 127713"/>
                <a:gd name="connsiteX8" fmla="*/ 127713 w 127713"/>
                <a:gd name="connsiteY8" fmla="*/ 63857 h 127713"/>
                <a:gd name="connsiteX9" fmla="*/ 63857 w 127713"/>
                <a:gd name="connsiteY9" fmla="*/ 0 h 127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3" h="127713">
                  <a:moveTo>
                    <a:pt x="63857" y="18874"/>
                  </a:moveTo>
                  <a:cubicBezTo>
                    <a:pt x="88700" y="18874"/>
                    <a:pt x="108839" y="39013"/>
                    <a:pt x="108839" y="63857"/>
                  </a:cubicBezTo>
                  <a:cubicBezTo>
                    <a:pt x="108839" y="88700"/>
                    <a:pt x="88700" y="108839"/>
                    <a:pt x="63857" y="108839"/>
                  </a:cubicBezTo>
                  <a:cubicBezTo>
                    <a:pt x="39013" y="108839"/>
                    <a:pt x="18874" y="88700"/>
                    <a:pt x="18874" y="63857"/>
                  </a:cubicBezTo>
                  <a:cubicBezTo>
                    <a:pt x="18898" y="39023"/>
                    <a:pt x="39023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3"/>
                    <a:pt x="63857" y="127713"/>
                  </a:cubicBezTo>
                  <a:cubicBezTo>
                    <a:pt x="99124" y="127713"/>
                    <a:pt x="127713" y="99124"/>
                    <a:pt x="127713" y="63857"/>
                  </a:cubicBezTo>
                  <a:cubicBezTo>
                    <a:pt x="127713" y="28590"/>
                    <a:pt x="99124" y="0"/>
                    <a:pt x="63857" y="0"/>
                  </a:cubicBezTo>
                  <a:close/>
                </a:path>
              </a:pathLst>
            </a:custGeom>
            <a:grpFill/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rgbClr val="FFFFFF"/>
                </a:solidFill>
              </a:endParaRPr>
            </a:p>
          </p:txBody>
        </p:sp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0E98A935-7388-7F72-D2E3-6635FA1366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411" y="547625"/>
            <a:ext cx="3997583" cy="5762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578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5A80D-ABDC-D3B4-684B-923F04D8D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conceptualization of AI and the Turing Test </a:t>
            </a:r>
          </a:p>
        </p:txBody>
      </p:sp>
      <p:pic>
        <p:nvPicPr>
          <p:cNvPr id="4" name="Content Placeholder 3" descr="Alan Turing - People in AI - AI Blog">
            <a:extLst>
              <a:ext uri="{FF2B5EF4-FFF2-40B4-BE49-F238E27FC236}">
                <a16:creationId xmlns:a16="http://schemas.microsoft.com/office/drawing/2014/main" id="{D43E6F82-7D13-D051-D0CA-0600F9EAFC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3066" y="1611086"/>
            <a:ext cx="1838325" cy="52469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F6FFBCE-1399-F820-06F1-EE23C72A2DCD}"/>
              </a:ext>
            </a:extLst>
          </p:cNvPr>
          <p:cNvSpPr txBox="1"/>
          <p:nvPr/>
        </p:nvSpPr>
        <p:spPr>
          <a:xfrm>
            <a:off x="2721428" y="1915885"/>
            <a:ext cx="1324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Alan Turing </a:t>
            </a:r>
          </a:p>
        </p:txBody>
      </p:sp>
      <p:pic>
        <p:nvPicPr>
          <p:cNvPr id="6" name="Content Placeholder 3" descr="Alan Turing - People in AI - AI Blog">
            <a:extLst>
              <a:ext uri="{FF2B5EF4-FFF2-40B4-BE49-F238E27FC236}">
                <a16:creationId xmlns:a16="http://schemas.microsoft.com/office/drawing/2014/main" id="{1C20BEF1-0628-BA94-E06F-F85D2DC6353C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21651" y="1611086"/>
            <a:ext cx="1838325" cy="524691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06A4FF7-E56B-9B57-67E0-9573B808F03E}"/>
              </a:ext>
            </a:extLst>
          </p:cNvPr>
          <p:cNvSpPr txBox="1"/>
          <p:nvPr/>
        </p:nvSpPr>
        <p:spPr>
          <a:xfrm>
            <a:off x="9187543" y="1731219"/>
            <a:ext cx="1717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Evil Alan Turing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50EF2D-C893-7DE2-14DE-311181AF2E0B}"/>
              </a:ext>
            </a:extLst>
          </p:cNvPr>
          <p:cNvSpPr txBox="1"/>
          <p:nvPr/>
        </p:nvSpPr>
        <p:spPr>
          <a:xfrm>
            <a:off x="2421391" y="2567317"/>
            <a:ext cx="408752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Imagined a computer that could think </a:t>
            </a:r>
          </a:p>
          <a:p>
            <a:r>
              <a:rPr lang="en-US" dirty="0"/>
              <a:t>past its specific programming way back</a:t>
            </a:r>
          </a:p>
          <a:p>
            <a:r>
              <a:rPr lang="en-US" dirty="0"/>
              <a:t>In the 1950s!</a:t>
            </a:r>
          </a:p>
        </p:txBody>
      </p:sp>
    </p:spTree>
    <p:extLst>
      <p:ext uri="{BB962C8B-B14F-4D97-AF65-F5344CB8AC3E}">
        <p14:creationId xmlns:p14="http://schemas.microsoft.com/office/powerpoint/2010/main" val="3336838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5AD38-7913-140C-8356-BB5380696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Dartmouth Conference 1956 </a:t>
            </a:r>
          </a:p>
        </p:txBody>
      </p:sp>
      <p:pic>
        <p:nvPicPr>
          <p:cNvPr id="4" name="Content Placeholder 3" descr="The Meeting of the Minds That Launched AI - IEEE Spectrum">
            <a:extLst>
              <a:ext uri="{FF2B5EF4-FFF2-40B4-BE49-F238E27FC236}">
                <a16:creationId xmlns:a16="http://schemas.microsoft.com/office/drawing/2014/main" id="{C74D3806-F369-0811-1809-9511CB2DA3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4205" y="1251857"/>
            <a:ext cx="11808052" cy="20247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9FECC8-21F0-B17A-717A-8051C61AC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427" y="3794784"/>
            <a:ext cx="3350079" cy="259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425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Picture of the Day: Deep Blue Defeats Kasparov - The Atlantic">
            <a:extLst>
              <a:ext uri="{FF2B5EF4-FFF2-40B4-BE49-F238E27FC236}">
                <a16:creationId xmlns:a16="http://schemas.microsoft.com/office/drawing/2014/main" id="{75159BC8-0621-26B9-16CC-CA57F61FD6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A27190-4C6C-C4CD-E5A2-1440114BF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Deep Blue VS. Gary Kasparov </a:t>
            </a:r>
          </a:p>
        </p:txBody>
      </p:sp>
    </p:spTree>
    <p:extLst>
      <p:ext uri="{BB962C8B-B14F-4D97-AF65-F5344CB8AC3E}">
        <p14:creationId xmlns:p14="http://schemas.microsoft.com/office/powerpoint/2010/main" val="840948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lexNet: Revolutionizing Deep Learning in Image Classification">
            <a:extLst>
              <a:ext uri="{FF2B5EF4-FFF2-40B4-BE49-F238E27FC236}">
                <a16:creationId xmlns:a16="http://schemas.microsoft.com/office/drawing/2014/main" id="{E44A4927-8A08-27F3-5CE9-26BE906522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1769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3B2188D-4EFB-6B80-B31A-CDA764EA1F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Alexnet</a:t>
            </a:r>
            <a:r>
              <a:rPr lang="en-US" dirty="0">
                <a:solidFill>
                  <a:schemeClr val="bg1"/>
                </a:solidFill>
              </a:rPr>
              <a:t> Image Recognition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402A0CB-B561-7A17-8087-A9CAB4D8A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44" y="365125"/>
            <a:ext cx="143827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784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5898 0.07778 L 1.07409 0.07454 " pathEditMode="relative" ptsTypes="AA">
                                      <p:cBhvr>
                                        <p:cTn id="21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5149</TotalTime>
  <Words>49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AI Merit Badge</vt:lpstr>
      <vt:lpstr>The conceptualization of AI and the Turing Test </vt:lpstr>
      <vt:lpstr>Dartmouth Conference 1956 </vt:lpstr>
      <vt:lpstr>Deep Blue VS. Gary Kasparov </vt:lpstr>
      <vt:lpstr>Alexnet Image Recognition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APEx Scout</dc:creator>
  <cp:lastModifiedBy>APEx Scout</cp:lastModifiedBy>
  <cp:revision>2</cp:revision>
  <dcterms:created xsi:type="dcterms:W3CDTF">2026-07-28T19:32:51Z</dcterms:created>
  <dcterms:modified xsi:type="dcterms:W3CDTF">2026-08-02T11:12:05Z</dcterms:modified>
</cp:coreProperties>
</file>